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PT Sans Narrow"/>
      <p:regular r:id="rId31"/>
      <p:bold r:id="rId32"/>
    </p:embeddedFont>
    <p:embeddedFont>
      <p:font typeface="Open Sans Medium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2108A2-1FE2-474F-AFAB-6C5F85B0075B}">
  <a:tblStyle styleId="{5B2108A2-1FE2-474F-AFAB-6C5F85B007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TSansNarrow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OpenSansMedium-regular.fntdata"/><Relationship Id="rId10" Type="http://schemas.openxmlformats.org/officeDocument/2006/relationships/slide" Target="slides/slide4.xml"/><Relationship Id="rId32" Type="http://schemas.openxmlformats.org/officeDocument/2006/relationships/font" Target="fonts/PTSansNarrow-bold.fntdata"/><Relationship Id="rId13" Type="http://schemas.openxmlformats.org/officeDocument/2006/relationships/slide" Target="slides/slide7.xml"/><Relationship Id="rId35" Type="http://schemas.openxmlformats.org/officeDocument/2006/relationships/font" Target="fonts/OpenSansMedium-italic.fntdata"/><Relationship Id="rId12" Type="http://schemas.openxmlformats.org/officeDocument/2006/relationships/slide" Target="slides/slide6.xml"/><Relationship Id="rId34" Type="http://schemas.openxmlformats.org/officeDocument/2006/relationships/font" Target="fonts/OpenSansMedium-bold.fntdata"/><Relationship Id="rId15" Type="http://schemas.openxmlformats.org/officeDocument/2006/relationships/slide" Target="slides/slide9.xml"/><Relationship Id="rId37" Type="http://schemas.openxmlformats.org/officeDocument/2006/relationships/font" Target="fonts/OpenSans-regular.fntdata"/><Relationship Id="rId14" Type="http://schemas.openxmlformats.org/officeDocument/2006/relationships/slide" Target="slides/slide8.xml"/><Relationship Id="rId36" Type="http://schemas.openxmlformats.org/officeDocument/2006/relationships/font" Target="fonts/OpenSans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5a12d37cc_0_1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a5617e3a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a5617e3a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5a12d37cc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5a12d37cc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5a12d37c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5a12d37c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a12d37c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a12d37c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5a12d37c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5a12d37c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5a12d37cc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5a12d37cc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a12d37cc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5a12d37cc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5a12d37cc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5a12d37c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5a12d37cc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5a12d37cc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5a12d37cc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5a12d37cc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5a12d37c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5a12d37c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5a12d37cc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5a12d37cc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5a12d37cc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5a12d37c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5a12d37cc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5a12d37cc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5a12d37cc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5a12d37cc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5a12d37cc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5a12d37cc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5a12d37cc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5a12d37cc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5a12d37c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5a12d37c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5a12d37cc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5a12d37cc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5a12d37cc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5a12d37cc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5a12d37cc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5a12d37cc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5a12d37cc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5a12d37cc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70" name="Google Shape;70;p14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60"/>
              <a:t>Privacy-Preserving Verification on Social Media Using Zero-Knowledge Proofs</a:t>
            </a:r>
            <a:endParaRPr sz="3060"/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Advisor : Chaya Ganesh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            </a:t>
            </a:r>
            <a:r>
              <a:rPr b="1" lang="en-GB" sz="1600"/>
              <a:t>          </a:t>
            </a:r>
            <a:r>
              <a:rPr lang="en-GB" sz="1600">
                <a:latin typeface="Open Sans Medium"/>
                <a:ea typeface="Open Sans Medium"/>
                <a:cs typeface="Open Sans Medium"/>
                <a:sym typeface="Open Sans Medium"/>
              </a:rPr>
              <a:t>Student : Sindhura S </a:t>
            </a:r>
            <a:endParaRPr sz="16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110375" y="723400"/>
            <a:ext cx="56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550"/>
            <a:ext cx="1303850" cy="85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7275" y="48550"/>
            <a:ext cx="1303850" cy="833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259675" y="671825"/>
            <a:ext cx="50409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77125" y="1531900"/>
            <a:ext cx="5652600" cy="306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Social media verification ambiguity erodes trust.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Paid badges mix subscription with true identity.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Impersonation risk increases with verification issues.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Need for secure system to verify identity.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9924" l="0" r="0" t="12962"/>
          <a:stretch/>
        </p:blipFill>
        <p:spPr>
          <a:xfrm>
            <a:off x="87850" y="1037025"/>
            <a:ext cx="2726600" cy="21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950" y="74600"/>
            <a:ext cx="472210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40"/>
              <a:t>Current Verification : After Nov 9 , 2022                  (7.99$ month US)</a:t>
            </a:r>
            <a:endParaRPr sz="254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675" y="1152425"/>
            <a:ext cx="7110581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88"/>
              <a:t>Grey/Gold Checkmark </a:t>
            </a:r>
            <a:r>
              <a:rPr lang="en-GB" sz="2488">
                <a:solidFill>
                  <a:srgbClr val="000000"/>
                </a:solidFill>
              </a:rPr>
              <a:t>: $1000 per month for Gold Checkmark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900" y="1590575"/>
            <a:ext cx="7296150" cy="17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not Aadhaar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000"/>
              <a:buChar char="●"/>
            </a:pPr>
            <a:r>
              <a:rPr lang="en-GB" sz="2000">
                <a:solidFill>
                  <a:srgbClr val="001D35"/>
                </a:solidFill>
              </a:rPr>
              <a:t>Consent needed</a:t>
            </a:r>
            <a:endParaRPr sz="2000">
              <a:solidFill>
                <a:srgbClr val="001D35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000"/>
              <a:buChar char="●"/>
            </a:pPr>
            <a:r>
              <a:rPr lang="en-GB" sz="2000">
                <a:solidFill>
                  <a:srgbClr val="001D35"/>
                </a:solidFill>
              </a:rPr>
              <a:t>Storage of Aadhaar</a:t>
            </a:r>
            <a:endParaRPr sz="2000">
              <a:solidFill>
                <a:srgbClr val="001D35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000"/>
              <a:buChar char="●"/>
            </a:pPr>
            <a:r>
              <a:rPr lang="en-GB" sz="2000">
                <a:solidFill>
                  <a:srgbClr val="001D35"/>
                </a:solidFill>
              </a:rPr>
              <a:t>I</a:t>
            </a:r>
            <a:r>
              <a:rPr lang="en-GB" sz="2000">
                <a:solidFill>
                  <a:srgbClr val="001D35"/>
                </a:solidFill>
              </a:rPr>
              <a:t>ncrease</a:t>
            </a:r>
            <a:r>
              <a:rPr lang="en-GB" sz="2000">
                <a:solidFill>
                  <a:srgbClr val="001D35"/>
                </a:solidFill>
              </a:rPr>
              <a:t> in cost</a:t>
            </a:r>
            <a:endParaRPr sz="2000">
              <a:solidFill>
                <a:srgbClr val="001D35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000"/>
              <a:buChar char="●"/>
            </a:pPr>
            <a:r>
              <a:rPr lang="en-GB" sz="2000">
                <a:solidFill>
                  <a:srgbClr val="001D35"/>
                </a:solidFill>
              </a:rPr>
              <a:t>Individual to country</a:t>
            </a:r>
            <a:endParaRPr sz="2000">
              <a:solidFill>
                <a:srgbClr val="001D35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175" y="505300"/>
            <a:ext cx="3989725" cy="39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257900" y="154575"/>
            <a:ext cx="8520600" cy="9471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Paper 1</a:t>
            </a:r>
            <a:r>
              <a:rPr lang="en-GB" sz="2100">
                <a:highlight>
                  <a:schemeClr val="lt1"/>
                </a:highlight>
              </a:rPr>
              <a:t>: </a:t>
            </a:r>
            <a:r>
              <a:rPr lang="en-GB" sz="2100">
                <a:highlight>
                  <a:srgbClr val="FFFFFF"/>
                </a:highlight>
              </a:rPr>
              <a:t>"I can say I'm John Travolta... but I'm not John Travolta</a:t>
            </a:r>
            <a:r>
              <a:rPr b="0" lang="en-GB" sz="2100">
                <a:solidFill>
                  <a:srgbClr val="001D35"/>
                </a:solidFill>
                <a:highlight>
                  <a:srgbClr val="FFFFFF"/>
                </a:highlight>
              </a:rPr>
              <a:t>,</a:t>
            </a:r>
            <a:r>
              <a:rPr lang="en-GB" sz="2100">
                <a:highlight>
                  <a:schemeClr val="lt1"/>
                </a:highlight>
              </a:rPr>
              <a:t>: The effects of twitter verification and badge design on perceptions of trust.</a:t>
            </a:r>
            <a:endParaRPr sz="2100">
              <a:highlight>
                <a:schemeClr val="lt1"/>
              </a:highlight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5245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Method: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Controlled experiment with 1,600 U.S. participants shown mock social media posts.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ID required: </a:t>
            </a: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more likely to be seen as credible 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notable accounts eligible: </a:t>
            </a: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more likely to be seen as credible.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Relevance: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Aligns directly with user preference for trustworthy 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57900" y="154575"/>
            <a:ext cx="8520600" cy="9471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33"/>
              <a:t>Paper 2</a:t>
            </a:r>
            <a:r>
              <a:rPr lang="en-GB" sz="2633">
                <a:highlight>
                  <a:schemeClr val="lt1"/>
                </a:highlight>
              </a:rPr>
              <a:t>: </a:t>
            </a:r>
            <a:r>
              <a:rPr lang="en-GB" sz="2633"/>
              <a:t>Account Verification on Social Media: User Perceptions and Paid Enrollment.</a:t>
            </a:r>
            <a:endParaRPr sz="263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66">
                <a:highlight>
                  <a:schemeClr val="lt1"/>
                </a:highlight>
              </a:rPr>
              <a:t>.</a:t>
            </a:r>
            <a:endParaRPr sz="2266">
              <a:highlight>
                <a:schemeClr val="lt1"/>
              </a:highlight>
            </a:endParaRPr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5245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survey of 299 U.S. users with a measurement study of 2.85 million Twitter accounts.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users incorrectly believed Twitter's paid blue check </a:t>
            </a:r>
            <a:r>
              <a:rPr i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still required proof of identity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misunderstood the meaning of the newer gold and gray check marks 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Relevance: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 confusion problem.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257900" y="154575"/>
            <a:ext cx="8520600" cy="9471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33"/>
              <a:t>Paper 3</a:t>
            </a:r>
            <a:r>
              <a:rPr lang="en-GB" sz="2633">
                <a:highlight>
                  <a:schemeClr val="lt1"/>
                </a:highlight>
              </a:rPr>
              <a:t>: </a:t>
            </a:r>
            <a:r>
              <a:rPr lang="en-GB" sz="2633"/>
              <a:t>Evaluating Twitter's Algorithmic Amplification of Low-Credibility Content: An Observational Study</a:t>
            </a:r>
            <a:r>
              <a:rPr lang="en-GB" sz="2633"/>
              <a:t>.</a:t>
            </a:r>
            <a:endParaRPr sz="263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66">
                <a:highlight>
                  <a:schemeClr val="lt1"/>
                </a:highlight>
              </a:rPr>
              <a:t>.</a:t>
            </a:r>
            <a:endParaRPr sz="2266">
              <a:highlight>
                <a:schemeClr val="lt1"/>
              </a:highlight>
            </a:endParaRP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316575"/>
            <a:ext cx="8520600" cy="3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Observational study of 2.7 million tweets on COVID-19 and climate change.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COVID-19 topics: </a:t>
            </a: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+19.2%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more impressions than high-credibility domains.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Climate change topics: </a:t>
            </a: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+95.8%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more impressions 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amplified High-credibility domains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Relevance: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danger of compromised badge can game the algorithm.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257900" y="154575"/>
            <a:ext cx="8520600" cy="9471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50"/>
              <a:t>Paper 4</a:t>
            </a:r>
            <a:r>
              <a:rPr lang="en-GB" sz="2650">
                <a:highlight>
                  <a:schemeClr val="lt1"/>
                </a:highlight>
              </a:rPr>
              <a:t>: </a:t>
            </a:r>
            <a:r>
              <a:rPr i="1" lang="en-GB" sz="2650"/>
              <a:t>The unverified era: politicians' Twitter verification post-Musk acquisition</a:t>
            </a:r>
            <a:r>
              <a:rPr lang="en-GB" sz="2650"/>
              <a:t>.</a:t>
            </a:r>
            <a:r>
              <a:rPr lang="en-GB" sz="2650"/>
              <a:t>.</a:t>
            </a:r>
            <a:endParaRPr sz="26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66">
                <a:highlight>
                  <a:schemeClr val="lt1"/>
                </a:highlight>
              </a:rPr>
              <a:t>.</a:t>
            </a:r>
            <a:endParaRPr sz="2266">
              <a:highlight>
                <a:schemeClr val="lt1"/>
              </a:highlight>
            </a:endParaRP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382175"/>
            <a:ext cx="8520600" cy="3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Quantitative analysis of 5,156 accounts of European politicians after  April 2023 policy changes.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</a:t>
            </a: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previously verified politicians lost their verification status 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new gray badge for government figures was applied inconsistently and sparsely 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Relevance: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mass-deverification event created an authority vacuum.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: </a:t>
            </a:r>
            <a:r>
              <a:rPr lang="en-GB"/>
              <a:t>Two-Tier Verification Framework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1" name="Google Shape;141;p25"/>
          <p:cNvGraphicFramePr/>
          <p:nvPr/>
        </p:nvGraphicFramePr>
        <p:xfrm>
          <a:off x="311700" y="130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{5B2108A2-1FE2-474F-AFAB-6C5F85B0075B}</a:tableStyleId>
              </a:tblPr>
              <a:tblGrid>
                <a:gridCol w="2840200"/>
                <a:gridCol w="2840200"/>
                <a:gridCol w="2840200"/>
              </a:tblGrid>
              <a:tr h="71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Blue Badge (Subscription)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Green Badge (Authenticity)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71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Purpose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Grants access to premium platform features for a fee.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 high-assurance, reliable signal of genuine identity.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6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Acquisition Method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Subscription for a fee.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Cryptographically verified authenticity using Zero-Knowledge Proofs.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6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What It Means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Signifies a commercial relationship, NOT verified identity.   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Cryptographically verified authenticity.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850" y="1309125"/>
            <a:ext cx="358425" cy="3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475" y="1337399"/>
            <a:ext cx="358425" cy="3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Green Badge Architecture: 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User/Entity (Prover):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Recognized ppl , Govt, Private Cop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778" lvl="0" marL="457200" rtl="0" algn="l">
              <a:spcBef>
                <a:spcPts val="1200"/>
              </a:spcBef>
              <a:spcAft>
                <a:spcPts val="0"/>
              </a:spcAft>
              <a:buSzPts val="1357"/>
              <a:buFont typeface="Arial"/>
              <a:buChar char="●"/>
            </a:pPr>
            <a:r>
              <a:rPr lang="en-GB" sz="1357">
                <a:solidFill>
                  <a:srgbClr val="410007"/>
                </a:solidFill>
                <a:highlight>
                  <a:srgbClr val="FFEDEB"/>
                </a:highlight>
                <a:latin typeface="Arial"/>
                <a:ea typeface="Arial"/>
                <a:cs typeface="Arial"/>
                <a:sym typeface="Arial"/>
              </a:rPr>
              <a:t>Unique Identification Authority of India (</a:t>
            </a:r>
            <a:r>
              <a:rPr lang="en-GB" sz="13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UIDAI</a:t>
            </a:r>
            <a:r>
              <a:rPr lang="en-GB" sz="13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) Masked Aadhaar XML </a:t>
            </a:r>
            <a:endParaRPr sz="13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778" lvl="0" marL="457200" rtl="0" algn="l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357"/>
              <a:buFont typeface="Arial"/>
              <a:buChar char="●"/>
            </a:pPr>
            <a:r>
              <a:rPr lang="en-GB" sz="1357">
                <a:solidFill>
                  <a:srgbClr val="001D3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Ministry of Corporate Affairs (MCA) issues the Certificate of Incorporation (COI)</a:t>
            </a:r>
            <a:endParaRPr sz="1357">
              <a:solidFill>
                <a:srgbClr val="001D3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477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7"/>
              <a:buFont typeface="Arial"/>
              <a:buChar char="●"/>
            </a:pPr>
            <a:r>
              <a:rPr lang="en-GB" sz="13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National Informatics Centre (NIC) issues domain registration certificate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Client-Side Tool: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Parses documents and generates proof locally on the user's device 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Media Platform (Verifier):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Receives and verifies the proof, never the raw document 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94500"/>
            <a:ext cx="8985250" cy="435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8" title="pcz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25" y="46575"/>
            <a:ext cx="8847674" cy="498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0" y="0"/>
            <a:ext cx="8932324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000" y="0"/>
            <a:ext cx="4528000" cy="5041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213775" y="321725"/>
            <a:ext cx="20955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GOVT :</a:t>
            </a:r>
            <a:endParaRPr b="1" sz="24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600" y="0"/>
            <a:ext cx="4530800" cy="49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763" y="1585913"/>
            <a:ext cx="68484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3"/>
          <p:cNvSpPr txBox="1"/>
          <p:nvPr/>
        </p:nvSpPr>
        <p:spPr>
          <a:xfrm>
            <a:off x="488950" y="459325"/>
            <a:ext cx="560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Open Sans"/>
                <a:ea typeface="Open Sans"/>
                <a:cs typeface="Open Sans"/>
                <a:sym typeface="Open Sans"/>
              </a:rPr>
              <a:t>Feature Extraction :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Intuition for</a:t>
            </a:r>
            <a:r>
              <a:rPr lang="en-GB"/>
              <a:t> </a:t>
            </a:r>
            <a:r>
              <a:rPr lang="en-GB"/>
              <a:t>Security &amp; Privacy Analysis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Resilience Against Attacks: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Impersonation: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cryptographically signed, authoritative documents and DSCs.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Fraudulent Proofs: 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 soundness of Groth16, assuming a secure trusted setup.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Sybil Attacks: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ZKP-enforced nullifier scheme.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216450" y="67365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Privacy Preservation (Core Goal Achieved):</a:t>
            </a:r>
            <a:endParaRPr b="1" sz="20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Zero-Knowledge: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Platform never sees the user's raw documents 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Client-Side Processing: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 sensitive parsing occurs locally on the user's device.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Minimization: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Platform only receives the proof and public commitments and stores only nullifier.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Founational Papers relevence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500">
                <a:latin typeface="Arial"/>
                <a:ea typeface="Arial"/>
                <a:cs typeface="Arial"/>
                <a:sym typeface="Arial"/>
              </a:rPr>
              <a:t>Pre </a:t>
            </a:r>
            <a:r>
              <a:rPr lang="en-GB" sz="2500">
                <a:latin typeface="Arial"/>
                <a:ea typeface="Arial"/>
                <a:cs typeface="Arial"/>
                <a:sym typeface="Arial"/>
              </a:rPr>
              <a:t>Existing</a:t>
            </a:r>
            <a:r>
              <a:rPr lang="en-GB" sz="2500">
                <a:latin typeface="Arial"/>
                <a:ea typeface="Arial"/>
                <a:cs typeface="Arial"/>
                <a:sym typeface="Arial"/>
              </a:rPr>
              <a:t> work </a:t>
            </a:r>
            <a:r>
              <a:rPr lang="en-GB" sz="2500">
                <a:latin typeface="Arial"/>
                <a:ea typeface="Arial"/>
                <a:cs typeface="Arial"/>
                <a:sym typeface="Arial"/>
              </a:rPr>
              <a:t>:</a:t>
            </a:r>
            <a:endParaRPr sz="5000"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Sign verification Algorithm (public key and Private key)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r>
              <a:rPr b="1"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zk-snarks Groth16 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500">
                <a:latin typeface="Arial"/>
                <a:ea typeface="Arial"/>
                <a:cs typeface="Arial"/>
                <a:sym typeface="Arial"/>
              </a:rPr>
              <a:t>Primary Contributions:</a:t>
            </a:r>
            <a:endParaRPr sz="5000"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Differentiated Two-Tier Verification Framework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Privacy-Preserving ZKP Circuits for National IDs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Robust Sybil-Resistant Nullifier Scheme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Conducting large-scale usability studies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evaluate the real-world effectiveness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Interoperability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Extend the framework by designing ZKP circuits for identity documents from other countries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Theory to Production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